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9" r:id="rId13"/>
    <p:sldId id="270" r:id="rId14"/>
    <p:sldId id="268" r:id="rId15"/>
    <p:sldId id="264" r:id="rId16"/>
    <p:sldId id="271" r:id="rId17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1439"/>
    <a:srgbClr val="1515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242088-2079-4DB2-A781-6ED2DDAECEBA}" v="189" dt="2025-11-12T18:24:43.6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936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EA4E27-E842-46C4-82D7-0B9223C53368}" type="datetimeFigureOut">
              <a:rPr lang="en-PK" smtClean="0"/>
              <a:t>12/11/2025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6E454-FEF6-41D2-8197-5B5FDCF1B5EA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8558187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6E454-FEF6-41D2-8197-5B5FDCF1B5EA}" type="slidenum">
              <a:rPr lang="en-PK" smtClean="0"/>
              <a:t>5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5437644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6E454-FEF6-41D2-8197-5B5FDCF1B5EA}" type="slidenum">
              <a:rPr lang="en-PK" smtClean="0"/>
              <a:t>6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088219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6E454-FEF6-41D2-8197-5B5FDCF1B5EA}" type="slidenum">
              <a:rPr lang="en-PK" smtClean="0"/>
              <a:t>8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704477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6E454-FEF6-41D2-8197-5B5FDCF1B5EA}" type="slidenum">
              <a:rPr lang="en-PK" smtClean="0"/>
              <a:t>9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13338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6E454-FEF6-41D2-8197-5B5FDCF1B5EA}" type="slidenum">
              <a:rPr lang="en-PK" smtClean="0"/>
              <a:t>12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2921174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36E454-FEF6-41D2-8197-5B5FDCF1B5EA}" type="slidenum">
              <a:rPr lang="en-PK" smtClean="0"/>
              <a:t>14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629084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96849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031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9252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65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11/12/2025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57221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11/12/2025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2253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11/12/2025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434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8615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11/12/2025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5535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041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40314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43000">
              <a:schemeClr val="accent3">
                <a:lumMod val="5000"/>
                <a:lumOff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11/12/2025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6436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oudoulinux.org/web/english/documentation-7/article/quick-tour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Jigsaw puzzles in plastic figures">
            <a:extLst>
              <a:ext uri="{FF2B5EF4-FFF2-40B4-BE49-F238E27FC236}">
                <a16:creationId xmlns:a16="http://schemas.microsoft.com/office/drawing/2014/main" id="{17DB1926-500D-2E57-3AFE-769C870B54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730" r="8475"/>
          <a:stretch>
            <a:fillRect/>
          </a:stretch>
        </p:blipFill>
        <p:spPr>
          <a:xfrm>
            <a:off x="20" y="10"/>
            <a:ext cx="7803224" cy="6857989"/>
          </a:xfrm>
          <a:prstGeom prst="rect">
            <a:avLst/>
          </a:prstGeom>
          <a:ln>
            <a:noFill/>
          </a:ln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F8B2ECD5-47B1-47AD-AC9D-045064631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896636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2E99500-4343-07AC-D99B-2D9DC6FE3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400"/>
            <a:ext cx="4659086" cy="3427867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  <a:latin typeface="Jumble" panose="020F0502020204030204" pitchFamily="2" charset="0"/>
              </a:rPr>
              <a:t>SUDOKU VALIDATOR</a:t>
            </a:r>
            <a:endParaRPr lang="en-PK" sz="6000" dirty="0">
              <a:solidFill>
                <a:srgbClr val="FFFFFF"/>
              </a:solidFill>
              <a:latin typeface="Jumble" panose="020F0502020204030204" pitchFamily="2" charset="0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A screenshot of a sudoku&#10;&#10;AI-generated content may be incorrect.">
            <a:extLst>
              <a:ext uri="{FF2B5EF4-FFF2-40B4-BE49-F238E27FC236}">
                <a16:creationId xmlns:a16="http://schemas.microsoft.com/office/drawing/2014/main" id="{357C6229-2772-4CF7-75C6-2137D2FEA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21" r="21884"/>
          <a:stretch>
            <a:fillRect/>
          </a:stretch>
        </p:blipFill>
        <p:spPr>
          <a:xfrm>
            <a:off x="7803244" y="-1"/>
            <a:ext cx="438875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4031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76C22-09D4-A4AC-A396-EDABADC30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333314"/>
            <a:ext cx="10890929" cy="1097280"/>
          </a:xfrm>
        </p:spPr>
        <p:txBody>
          <a:bodyPr/>
          <a:lstStyle/>
          <a:p>
            <a:r>
              <a:rPr lang="en-US" sz="36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SUDOKU AND HOW IT IS PLAYED</a:t>
            </a:r>
            <a:endParaRPr lang="en-PK" sz="3600" dirty="0">
              <a:solidFill>
                <a:srgbClr val="F014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pic>
        <p:nvPicPr>
          <p:cNvPr id="5" name="Content Placeholder 4" descr="A screenshot of a game&#10;&#10;AI-generated content may be incorrect.">
            <a:extLst>
              <a:ext uri="{FF2B5EF4-FFF2-40B4-BE49-F238E27FC236}">
                <a16:creationId xmlns:a16="http://schemas.microsoft.com/office/drawing/2014/main" id="{21AACA69-BF57-12E9-58C6-A811B0C706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3284" t="17136" r="9215" b="8409"/>
          <a:stretch>
            <a:fillRect/>
          </a:stretch>
        </p:blipFill>
        <p:spPr>
          <a:xfrm>
            <a:off x="7683908" y="1639615"/>
            <a:ext cx="4137513" cy="4114654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A7F855D-9B76-9DFC-714C-DE06DFD101AD}"/>
              </a:ext>
            </a:extLst>
          </p:cNvPr>
          <p:cNvSpPr txBox="1"/>
          <p:nvPr/>
        </p:nvSpPr>
        <p:spPr>
          <a:xfrm>
            <a:off x="486695" y="1200151"/>
            <a:ext cx="6961240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Sudoku is a very popular Japanese puzzle game. It is a game of logic; It is based on the logical placement of numbers. 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In this game, the player is given a 9x9 grid, divided into nine 3x3 sub-grids.</a:t>
            </a:r>
          </a:p>
          <a:p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/>
              <a:t>The user is provided with a few boxes of some sub-grids of the board already filled with numbers from 1 to 9, and the user has to complete it while following sudoku rules, which are: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000" b="1" dirty="0"/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 Only digits from 1 to 9 can be used.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 There should be no repetition of any digit in any row.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 There should be no repetition of any digit in any column.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/>
              <a:t> There should be no repetition of any digit in any 3x3 sub-grid</a:t>
            </a:r>
            <a:endParaRPr lang="en-PK" sz="2000" b="1" dirty="0"/>
          </a:p>
        </p:txBody>
      </p:sp>
    </p:spTree>
    <p:extLst>
      <p:ext uri="{BB962C8B-B14F-4D97-AF65-F5344CB8AC3E}">
        <p14:creationId xmlns:p14="http://schemas.microsoft.com/office/powerpoint/2010/main" val="10691275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63F27BC-7079-4FF7-8F7C-ABC82FA3C2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2C176E-DE78-E806-0EB7-9982F8BA6E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914401"/>
            <a:ext cx="4876801" cy="1569516"/>
          </a:xfrm>
        </p:spPr>
        <p:txBody>
          <a:bodyPr anchor="t">
            <a:normAutofit/>
          </a:bodyPr>
          <a:lstStyle/>
          <a:p>
            <a:r>
              <a:rPr lang="en-US" sz="36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HOW A SODOKU VALIDATOR HELPS</a:t>
            </a:r>
            <a:endParaRPr lang="en-PK" sz="3600" dirty="0">
              <a:solidFill>
                <a:srgbClr val="F014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31CA0F-3185-E42B-2E4E-93B65E2A7A3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7" t="7795" r="50000" b="76197"/>
          <a:stretch>
            <a:fillRect/>
          </a:stretch>
        </p:blipFill>
        <p:spPr>
          <a:xfrm>
            <a:off x="336126" y="2691150"/>
            <a:ext cx="5759874" cy="1910347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EF365818-6200-EBFA-BE2E-0154CE061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95597" y="1137008"/>
            <a:ext cx="5360277" cy="53975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As difficulty level of the puzzle increases manual validation becomes: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	More time consuming.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	More difficult.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	More prone to errors.</a:t>
            </a:r>
          </a:p>
          <a:p>
            <a:pPr marL="0" indent="0">
              <a:buNone/>
            </a:pPr>
            <a:r>
              <a:rPr lang="en-US" sz="2400" b="1" dirty="0"/>
              <a:t>Sudoku validator will help the player verify their board easily, within a few seconds and without human errors.</a:t>
            </a:r>
            <a:endParaRPr lang="en-PK" sz="2400" b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540DBD50-3CB1-A513-2321-1891E3F095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15132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B68DCB-A14B-98F6-545D-FE1C1E957F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4372" y="645328"/>
            <a:ext cx="3321937" cy="707886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UNSOLVED:</a:t>
            </a:r>
            <a:endParaRPr lang="en-PK" sz="3600" dirty="0">
              <a:solidFill>
                <a:srgbClr val="F014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0B38E28-98FE-338E-9048-C1405DE3AD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40079" y="1515465"/>
            <a:ext cx="5126537" cy="51265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582B1F-4A4E-5E49-9782-624A47A05D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774" y="1515465"/>
            <a:ext cx="5126536" cy="51265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C65073-E3DB-DF0D-4207-BEE4C5B5B5CF}"/>
              </a:ext>
            </a:extLst>
          </p:cNvPr>
          <p:cNvSpPr txBox="1"/>
          <p:nvPr/>
        </p:nvSpPr>
        <p:spPr>
          <a:xfrm>
            <a:off x="6247774" y="645328"/>
            <a:ext cx="38164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  <a:ea typeface="+mj-ea"/>
                <a:cs typeface="+mj-cs"/>
              </a:rPr>
              <a:t>SOLVED:</a:t>
            </a:r>
            <a:endParaRPr lang="en-PK" sz="3600" b="1" dirty="0">
              <a:solidFill>
                <a:srgbClr val="F014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156121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E79185D-28C7-2C01-7831-43724FDAD0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5002" t="17083" r="21616" b="15569"/>
          <a:stretch>
            <a:fillRect/>
          </a:stretch>
        </p:blipFill>
        <p:spPr>
          <a:xfrm>
            <a:off x="36499" y="0"/>
            <a:ext cx="121555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A68E3C5-53B7-DB75-71A2-0DDB99A87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3869" y="2448232"/>
            <a:ext cx="9039718" cy="1563329"/>
          </a:xfrm>
          <a:solidFill>
            <a:schemeClr val="accent2">
              <a:lumMod val="20000"/>
              <a:lumOff val="80000"/>
            </a:schemeClr>
          </a:solidFill>
          <a:effectLst>
            <a:softEdge rad="127000"/>
          </a:effectLst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LET’S MOVE TO THE BACKEND OF THE SODOKU VALIDATOR…..</a:t>
            </a:r>
            <a:endParaRPr lang="en-PK" sz="3600" dirty="0">
              <a:solidFill>
                <a:srgbClr val="F014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2252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A286A-919E-0FC1-AF86-0745A9ABF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52" y="350050"/>
            <a:ext cx="10890929" cy="109728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Step 1)  Displaying the instructions to enter input.</a:t>
            </a:r>
            <a:endParaRPr lang="en-PK" sz="3600" dirty="0">
              <a:solidFill>
                <a:srgbClr val="F014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195F208-3522-1133-F489-1C9D00875F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6597" t="22306" r="22368" b="62827"/>
          <a:stretch>
            <a:fillRect/>
          </a:stretch>
        </p:blipFill>
        <p:spPr>
          <a:xfrm>
            <a:off x="132734" y="2147253"/>
            <a:ext cx="11800185" cy="138842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C318EC7-3885-5A51-A5AE-F53BF7386156}"/>
              </a:ext>
            </a:extLst>
          </p:cNvPr>
          <p:cNvSpPr txBox="1"/>
          <p:nvPr/>
        </p:nvSpPr>
        <p:spPr>
          <a:xfrm>
            <a:off x="418852" y="1669970"/>
            <a:ext cx="3108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CODE:</a:t>
            </a:r>
            <a:endParaRPr lang="en-PK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43AF97B-7737-5181-78B3-BF0E5C702D2E}"/>
              </a:ext>
            </a:extLst>
          </p:cNvPr>
          <p:cNvSpPr txBox="1"/>
          <p:nvPr/>
        </p:nvSpPr>
        <p:spPr>
          <a:xfrm>
            <a:off x="304800" y="3838247"/>
            <a:ext cx="3063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OUTPUT:</a:t>
            </a:r>
            <a:endParaRPr lang="en-PK" sz="24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E775E19-427E-D6E8-8DB1-A26ACFC956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501" t="7506" r="41209" b="75662"/>
          <a:stretch>
            <a:fillRect/>
          </a:stretch>
        </p:blipFill>
        <p:spPr>
          <a:xfrm>
            <a:off x="132734" y="4602479"/>
            <a:ext cx="9768016" cy="164217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331352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EF8BD-74CE-6248-C5A6-F6D07B62F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350" y="324465"/>
            <a:ext cx="10890929" cy="1097280"/>
          </a:xfrm>
        </p:spPr>
        <p:txBody>
          <a:bodyPr/>
          <a:lstStyle/>
          <a:p>
            <a:r>
              <a:rPr lang="en-US" sz="36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STEP 2) Taking the user’s </a:t>
            </a:r>
            <a:r>
              <a:rPr lang="en-US" sz="3600" dirty="0" err="1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Sodoku</a:t>
            </a:r>
            <a:r>
              <a:rPr lang="en-US" sz="36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 board as input.</a:t>
            </a:r>
            <a:endParaRPr lang="en-PK" sz="3600" dirty="0">
              <a:solidFill>
                <a:srgbClr val="F014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3531A61-1C54-DD45-FF5F-DF9965BE1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7994" t="27891" r="27587" b="21232"/>
          <a:stretch>
            <a:fillRect/>
          </a:stretch>
        </p:blipFill>
        <p:spPr>
          <a:xfrm>
            <a:off x="448350" y="1991031"/>
            <a:ext cx="9665232" cy="429178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F14933-3DE3-B332-7E7B-46F1F615F22B}"/>
              </a:ext>
            </a:extLst>
          </p:cNvPr>
          <p:cNvSpPr txBox="1"/>
          <p:nvPr/>
        </p:nvSpPr>
        <p:spPr>
          <a:xfrm>
            <a:off x="448350" y="1303758"/>
            <a:ext cx="167541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Code:</a:t>
            </a:r>
            <a:endParaRPr lang="en-PK" sz="2800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323320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2D1F9-AE2D-C1DC-3155-118DADE36B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5760" y="977412"/>
            <a:ext cx="2532955" cy="1200329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Output: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C0F9BC3-437E-62AA-EA27-42D62CE1EC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287" r="80248" b="32371"/>
          <a:stretch>
            <a:fillRect/>
          </a:stretch>
        </p:blipFill>
        <p:spPr>
          <a:xfrm>
            <a:off x="3800792" y="286004"/>
            <a:ext cx="5254718" cy="344432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BB0DA6-C5C5-EE2C-5177-ABF4B9160D2D}"/>
              </a:ext>
            </a:extLst>
          </p:cNvPr>
          <p:cNvSpPr txBox="1"/>
          <p:nvPr/>
        </p:nvSpPr>
        <p:spPr>
          <a:xfrm>
            <a:off x="225803" y="3803759"/>
            <a:ext cx="725051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ct val="0"/>
              </a:spcBef>
            </a:pPr>
            <a:r>
              <a:rPr lang="en-US" sz="3200" b="1" dirty="0">
                <a:latin typeface="+mj-lt"/>
                <a:ea typeface="+mj-ea"/>
                <a:cs typeface="+mj-cs"/>
              </a:rPr>
              <a:t>Output when input number is not in the range(1-9): </a:t>
            </a:r>
            <a:endParaRPr lang="en-PK" sz="3200" b="1" dirty="0">
              <a:latin typeface="+mj-lt"/>
              <a:ea typeface="+mj-ea"/>
              <a:cs typeface="+mj-cs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5D558E9-CBBB-3162-BD24-5F3600AB7AB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35" t="23574" r="57629" b="65828"/>
          <a:stretch>
            <a:fillRect/>
          </a:stretch>
        </p:blipFill>
        <p:spPr>
          <a:xfrm>
            <a:off x="225803" y="4855909"/>
            <a:ext cx="11093495" cy="16471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54557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72089-4B0F-707F-7B66-666AEB121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268" y="299545"/>
            <a:ext cx="9979740" cy="1056289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Step 3) Checking the rows of the entered </a:t>
            </a:r>
            <a:r>
              <a:rPr lang="en-US" sz="3600" dirty="0" err="1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Sodoku</a:t>
            </a:r>
            <a:r>
              <a:rPr lang="en-US" sz="36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 board to see if any element is repeating.</a:t>
            </a:r>
            <a:endParaRPr lang="en-PK" sz="3600" dirty="0">
              <a:solidFill>
                <a:srgbClr val="F014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526D88C-3B32-24E4-73E9-40D46D1E3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7917" t="35013" r="20669" b="27202"/>
          <a:stretch>
            <a:fillRect/>
          </a:stretch>
        </p:blipFill>
        <p:spPr>
          <a:xfrm>
            <a:off x="242457" y="2916620"/>
            <a:ext cx="11288551" cy="335805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69283D-8584-DD1E-2726-2D9825AF23E3}"/>
              </a:ext>
            </a:extLst>
          </p:cNvPr>
          <p:cNvSpPr txBox="1"/>
          <p:nvPr/>
        </p:nvSpPr>
        <p:spPr>
          <a:xfrm>
            <a:off x="575187" y="1902542"/>
            <a:ext cx="63418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latin typeface="+mj-lt"/>
                <a:ea typeface="+mj-ea"/>
                <a:cs typeface="+mj-cs"/>
              </a:rPr>
              <a:t>Code:</a:t>
            </a:r>
            <a:endParaRPr lang="en-PK" sz="4400" b="1" dirty="0"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42355010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2017E-6403-FC78-9DD3-CB259E398E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9535" y="213794"/>
            <a:ext cx="10890929" cy="1097280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Logic behind checking </a:t>
            </a:r>
            <a:r>
              <a:rPr lang="en-US" sz="3600" dirty="0" err="1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repitition</a:t>
            </a:r>
            <a:r>
              <a:rPr lang="en-US" sz="36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:</a:t>
            </a:r>
            <a:endParaRPr lang="en-PK" sz="3600" dirty="0">
              <a:solidFill>
                <a:srgbClr val="F014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C2FBFD-6FF6-7B57-8953-B3525BEFF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697" y="2912807"/>
            <a:ext cx="10890928" cy="356616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endParaRPr lang="en-PK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D68FD6D-65F9-DE5A-848D-22C43D87D0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535" y="1715482"/>
            <a:ext cx="11435768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PK" sz="2400" b="1" dirty="0">
                <a:latin typeface="+mj-lt"/>
                <a:ea typeface="+mj-ea"/>
                <a:cs typeface="+mj-cs"/>
              </a:rPr>
              <a:t> </a:t>
            </a:r>
            <a:r>
              <a:rPr lang="en-PK" altLang="en-PK" sz="2400" b="1" dirty="0">
                <a:latin typeface="+mj-lt"/>
                <a:ea typeface="+mj-ea"/>
                <a:cs typeface="+mj-cs"/>
              </a:rPr>
              <a:t>The array</a:t>
            </a:r>
            <a:r>
              <a:rPr lang="en-US" altLang="en-PK" sz="2400" b="1" dirty="0">
                <a:latin typeface="+mj-lt"/>
                <a:ea typeface="+mj-ea"/>
                <a:cs typeface="+mj-cs"/>
              </a:rPr>
              <a:t> </a:t>
            </a:r>
            <a:r>
              <a:rPr lang="en-US" altLang="en-PK" sz="2400" b="1" dirty="0" err="1">
                <a:latin typeface="+mj-lt"/>
                <a:ea typeface="+mj-ea"/>
                <a:cs typeface="+mj-cs"/>
              </a:rPr>
              <a:t>check_r</a:t>
            </a:r>
            <a:r>
              <a:rPr lang="en-US" altLang="en-PK" sz="2400" b="1" dirty="0">
                <a:latin typeface="+mj-lt"/>
                <a:ea typeface="+mj-ea"/>
                <a:cs typeface="+mj-cs"/>
              </a:rPr>
              <a:t>[9] acts as a </a:t>
            </a:r>
            <a:r>
              <a:rPr lang="en-PK" altLang="en-PK" sz="2400" b="1" dirty="0">
                <a:latin typeface="+mj-lt"/>
                <a:ea typeface="+mj-ea"/>
                <a:cs typeface="+mj-cs"/>
              </a:rPr>
              <a:t>tracker for digits 1–9 in each row.</a:t>
            </a:r>
            <a:endParaRPr lang="en-US" altLang="en-PK" sz="2400" b="1" dirty="0">
              <a:latin typeface="+mj-lt"/>
              <a:ea typeface="+mj-ea"/>
              <a:cs typeface="+mj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PK" sz="2400" b="1" dirty="0">
                <a:latin typeface="+mj-lt"/>
                <a:ea typeface="+mj-ea"/>
                <a:cs typeface="+mj-cs"/>
              </a:rPr>
              <a:t> </a:t>
            </a:r>
            <a:endParaRPr lang="en-PK" altLang="en-PK" sz="2400" b="1" dirty="0">
              <a:latin typeface="+mj-lt"/>
              <a:ea typeface="+mj-ea"/>
              <a:cs typeface="+mj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PK" sz="2400" b="1" dirty="0">
                <a:latin typeface="+mj-lt"/>
                <a:ea typeface="+mj-ea"/>
                <a:cs typeface="+mj-cs"/>
              </a:rPr>
              <a:t> </a:t>
            </a:r>
            <a:r>
              <a:rPr lang="en-PK" altLang="en-PK" sz="2400" b="1" dirty="0">
                <a:latin typeface="+mj-lt"/>
                <a:ea typeface="+mj-ea"/>
                <a:cs typeface="+mj-cs"/>
              </a:rPr>
              <a:t>Since Sudoku digits range from 1–9, each digit can be mapped to an index in</a:t>
            </a:r>
            <a:r>
              <a:rPr lang="en-US" altLang="en-PK" sz="2400" b="1" dirty="0">
                <a:latin typeface="+mj-lt"/>
                <a:ea typeface="+mj-ea"/>
                <a:cs typeface="+mj-cs"/>
              </a:rPr>
              <a:t> array check-r[9] using (digit-1)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PK" altLang="en-PK" sz="2400" b="1" dirty="0">
              <a:latin typeface="+mj-lt"/>
              <a:ea typeface="+mj-ea"/>
              <a:cs typeface="+mj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PK" sz="2400" b="1" dirty="0">
                <a:latin typeface="+mj-lt"/>
                <a:ea typeface="+mj-ea"/>
                <a:cs typeface="+mj-cs"/>
              </a:rPr>
              <a:t> </a:t>
            </a:r>
            <a:r>
              <a:rPr lang="en-PK" altLang="en-PK" sz="2400" b="1" dirty="0">
                <a:latin typeface="+mj-lt"/>
                <a:ea typeface="+mj-ea"/>
                <a:cs typeface="+mj-cs"/>
              </a:rPr>
              <a:t>For example: if </a:t>
            </a:r>
            <a:r>
              <a:rPr lang="en-US" altLang="en-PK" sz="2400" b="1" dirty="0">
                <a:latin typeface="+mj-lt"/>
                <a:ea typeface="+mj-ea"/>
                <a:cs typeface="+mj-cs"/>
              </a:rPr>
              <a:t>an element of a row in the </a:t>
            </a:r>
            <a:r>
              <a:rPr lang="en-US" altLang="en-PK" sz="2400" b="1" dirty="0" err="1">
                <a:latin typeface="+mj-lt"/>
                <a:ea typeface="+mj-ea"/>
                <a:cs typeface="+mj-cs"/>
              </a:rPr>
              <a:t>Sodoku</a:t>
            </a:r>
            <a:r>
              <a:rPr lang="en-US" altLang="en-PK" sz="2400" b="1" dirty="0">
                <a:latin typeface="+mj-lt"/>
                <a:ea typeface="+mj-ea"/>
                <a:cs typeface="+mj-cs"/>
              </a:rPr>
              <a:t> board</a:t>
            </a:r>
            <a:r>
              <a:rPr lang="en-PK" altLang="en-PK" sz="2400" b="1" dirty="0">
                <a:latin typeface="+mj-lt"/>
                <a:ea typeface="+mj-ea"/>
                <a:cs typeface="+mj-cs"/>
              </a:rPr>
              <a:t> = 5 </a:t>
            </a:r>
            <a:r>
              <a:rPr lang="en-US" altLang="en-PK" sz="2400" b="1" dirty="0">
                <a:latin typeface="+mj-lt"/>
                <a:ea typeface="+mj-ea"/>
                <a:cs typeface="+mj-cs"/>
              </a:rPr>
              <a:t>then its     </a:t>
            </a:r>
            <a:r>
              <a:rPr lang="en-PK" altLang="en-PK" sz="2400" b="1" dirty="0">
                <a:latin typeface="+mj-lt"/>
                <a:ea typeface="+mj-ea"/>
                <a:cs typeface="+mj-cs"/>
              </a:rPr>
              <a:t>index</a:t>
            </a:r>
            <a:r>
              <a:rPr lang="en-US" altLang="en-PK" sz="2400" b="1" dirty="0">
                <a:latin typeface="+mj-lt"/>
                <a:ea typeface="+mj-ea"/>
                <a:cs typeface="+mj-cs"/>
              </a:rPr>
              <a:t> in </a:t>
            </a:r>
            <a:r>
              <a:rPr lang="en-US" altLang="en-PK" sz="2400" b="1" dirty="0" err="1">
                <a:latin typeface="+mj-lt"/>
                <a:ea typeface="+mj-ea"/>
                <a:cs typeface="+mj-cs"/>
              </a:rPr>
              <a:t>check_r</a:t>
            </a:r>
            <a:r>
              <a:rPr lang="en-US" altLang="en-PK" sz="2400" b="1" dirty="0">
                <a:latin typeface="+mj-lt"/>
                <a:ea typeface="+mj-ea"/>
                <a:cs typeface="+mj-cs"/>
              </a:rPr>
              <a:t>[9] array</a:t>
            </a:r>
            <a:r>
              <a:rPr lang="en-PK" altLang="en-PK" sz="2400" b="1" dirty="0">
                <a:latin typeface="+mj-lt"/>
                <a:ea typeface="+mj-ea"/>
                <a:cs typeface="+mj-cs"/>
              </a:rPr>
              <a:t> = 4.</a:t>
            </a:r>
            <a:endParaRPr lang="en-US" altLang="en-PK" sz="2400" b="1" dirty="0">
              <a:latin typeface="+mj-lt"/>
              <a:ea typeface="+mj-ea"/>
              <a:cs typeface="+mj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PK" altLang="en-PK" sz="2400" b="1" dirty="0">
              <a:latin typeface="+mj-lt"/>
              <a:ea typeface="+mj-ea"/>
              <a:cs typeface="+mj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PK" sz="2400" b="1" dirty="0">
                <a:latin typeface="+mj-lt"/>
                <a:ea typeface="+mj-ea"/>
                <a:cs typeface="+mj-cs"/>
              </a:rPr>
              <a:t> </a:t>
            </a:r>
            <a:r>
              <a:rPr lang="en-PK" altLang="en-PK" sz="2400" b="1" dirty="0">
                <a:latin typeface="+mj-lt"/>
                <a:ea typeface="+mj-ea"/>
                <a:cs typeface="+mj-cs"/>
              </a:rPr>
              <a:t>Each time a digit appears, the corresponding index in </a:t>
            </a:r>
            <a:r>
              <a:rPr lang="en-PK" altLang="en-PK" sz="2400" b="1" dirty="0" err="1">
                <a:latin typeface="+mj-lt"/>
                <a:ea typeface="+mj-ea"/>
                <a:cs typeface="+mj-cs"/>
              </a:rPr>
              <a:t>check_r</a:t>
            </a:r>
            <a:r>
              <a:rPr lang="en-PK" altLang="en-PK" sz="2400" b="1" dirty="0">
                <a:latin typeface="+mj-lt"/>
                <a:ea typeface="+mj-ea"/>
                <a:cs typeface="+mj-cs"/>
              </a:rPr>
              <a:t> is marked 1.</a:t>
            </a:r>
            <a:endParaRPr lang="en-US" altLang="en-PK" sz="2400" b="1" dirty="0">
              <a:latin typeface="+mj-lt"/>
              <a:ea typeface="+mj-ea"/>
              <a:cs typeface="+mj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endParaRPr lang="en-PK" altLang="en-PK" sz="2400" b="1" dirty="0">
              <a:latin typeface="+mj-lt"/>
              <a:ea typeface="+mj-ea"/>
              <a:cs typeface="+mj-cs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  <a:tabLst/>
            </a:pPr>
            <a:r>
              <a:rPr lang="en-US" altLang="en-PK" sz="2400" b="1" dirty="0">
                <a:latin typeface="+mj-lt"/>
                <a:ea typeface="+mj-ea"/>
                <a:cs typeface="+mj-cs"/>
              </a:rPr>
              <a:t> </a:t>
            </a:r>
            <a:r>
              <a:rPr lang="en-PK" altLang="en-PK" sz="2400" b="1" dirty="0">
                <a:latin typeface="+mj-lt"/>
                <a:ea typeface="+mj-ea"/>
                <a:cs typeface="+mj-cs"/>
              </a:rPr>
              <a:t>If the same digit appears again, that index will already be 1, meaning a repetition → invalid row.</a:t>
            </a:r>
          </a:p>
        </p:txBody>
      </p:sp>
    </p:spTree>
    <p:extLst>
      <p:ext uri="{BB962C8B-B14F-4D97-AF65-F5344CB8AC3E}">
        <p14:creationId xmlns:p14="http://schemas.microsoft.com/office/powerpoint/2010/main" val="35444746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A3FF0-DB46-752A-1776-2208F19E8A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3602" y="663678"/>
            <a:ext cx="10890929" cy="1097280"/>
          </a:xfrm>
        </p:spPr>
        <p:txBody>
          <a:bodyPr/>
          <a:lstStyle/>
          <a:p>
            <a:r>
              <a:rPr lang="en-US" sz="33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For example:</a:t>
            </a:r>
            <a:endParaRPr lang="en-PK" sz="3300" dirty="0">
              <a:solidFill>
                <a:srgbClr val="F0143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Franklin Gothic Heavy" panose="020B09030201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8008DE-1550-F849-B8A5-FDD301AF6B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6723" y="1760958"/>
            <a:ext cx="5628347" cy="4468762"/>
          </a:xfrm>
        </p:spPr>
        <p:txBody>
          <a:bodyPr>
            <a:normAutofit fontScale="92500"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Example (Row = 3 1 4 5 6 7 8 9 2):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Start: </a:t>
            </a:r>
            <a:r>
              <a:rPr lang="en-US" sz="2400" b="1" dirty="0" err="1"/>
              <a:t>check_r</a:t>
            </a:r>
            <a:r>
              <a:rPr lang="en-US" sz="2400" b="1" dirty="0"/>
              <a:t> = {0,0,0,0,0,0,0,0,0}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After reading 3: mark index 2 : {0,0,1,0,0,0,0,0,0}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After reading 1: mark index 0 : {1,0,1,0,0,0,0,0,0}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en-US" sz="2400" b="1" dirty="0"/>
              <a:t>If a number repeats (say another 3 appears), then </a:t>
            </a:r>
            <a:r>
              <a:rPr lang="en-US" sz="2400" b="1" dirty="0" err="1"/>
              <a:t>check_r</a:t>
            </a:r>
            <a:r>
              <a:rPr lang="en-US" sz="2400" b="1" dirty="0"/>
              <a:t>[2] would already be 1, triggering invalid message.</a:t>
            </a:r>
          </a:p>
          <a:p>
            <a:endParaRPr lang="en-PK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CF508C-9C96-E62B-6DBB-8DDBEC2CC0A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18" t="27731" r="73993" b="43653"/>
          <a:stretch>
            <a:fillRect/>
          </a:stretch>
        </p:blipFill>
        <p:spPr>
          <a:xfrm>
            <a:off x="5988803" y="1760959"/>
            <a:ext cx="5571314" cy="379992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14734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27B2D8-DD23-3C32-C863-20195C757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7928" y="820915"/>
            <a:ext cx="2787444" cy="2795717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>
              <a:lnSpc>
                <a:spcPct val="90000"/>
              </a:lnSpc>
            </a:pPr>
            <a:r>
              <a:rPr lang="en-US" sz="37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Step 4) Checking columns of the </a:t>
            </a:r>
            <a:r>
              <a:rPr lang="en-US" sz="3700" dirty="0" err="1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Sodoku</a:t>
            </a:r>
            <a:r>
              <a:rPr lang="en-US" sz="37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 for repetition.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2FC56B9-362C-66F7-3974-A5C1AD4577D3}"/>
              </a:ext>
            </a:extLst>
          </p:cNvPr>
          <p:cNvSpPr txBox="1"/>
          <p:nvPr/>
        </p:nvSpPr>
        <p:spPr>
          <a:xfrm>
            <a:off x="774646" y="3596018"/>
            <a:ext cx="2983229" cy="116023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>
              <a:lnSpc>
                <a:spcPct val="130000"/>
              </a:lnSpc>
              <a:spcBef>
                <a:spcPts val="1000"/>
              </a:spcBef>
              <a:buSzPct val="87000"/>
            </a:pPr>
            <a:r>
              <a:rPr lang="en-US" sz="2800" b="1" cap="all" spc="300" dirty="0"/>
              <a:t>Code: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1B72C70-2B00-8D7B-05D4-37339D4AF2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rcRect l="9467" t="19986" r="22172" b="26108"/>
          <a:stretch>
            <a:fillRect/>
          </a:stretch>
        </p:blipFill>
        <p:spPr>
          <a:xfrm>
            <a:off x="3154116" y="820915"/>
            <a:ext cx="8263238" cy="366523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26B4E86-32C4-273A-1ADF-6B44243549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72253" y="6272784"/>
            <a:ext cx="10847495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81277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509D8E-E5A3-FD06-B672-C8594D8667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PK"/>
          </a:p>
        </p:txBody>
      </p:sp>
      <p:pic>
        <p:nvPicPr>
          <p:cNvPr id="5" name="Content Placeholder 4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4F46C4E0-6DCB-53D6-5700-F9674AB2B1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164" r="80"/>
          <a:stretch>
            <a:fillRect/>
          </a:stretch>
        </p:blipFill>
        <p:spPr>
          <a:xfrm>
            <a:off x="363110" y="516194"/>
            <a:ext cx="11435600" cy="61058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89248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376E2D-D7A8-40AA-321F-705122D33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02091"/>
            <a:ext cx="3291840" cy="2770216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r>
              <a:rPr lang="en-US" sz="41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Step 5) Checking the sub-grids for repetition: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10B3C-B4DD-A68B-B4BF-3C04FD9ADD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5058998"/>
            <a:ext cx="3145535" cy="993821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b="1" cap="all" spc="300" dirty="0"/>
              <a:t>Code: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9D7B6BE-A4E0-4483-BEC5-493AC3E5D2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4596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334D66BE-51FF-286D-E3E6-4FAF9B49465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05" t="18910" r="57419" b="16112"/>
          <a:stretch>
            <a:fillRect/>
          </a:stretch>
        </p:blipFill>
        <p:spPr>
          <a:xfrm>
            <a:off x="5193549" y="177979"/>
            <a:ext cx="6133066" cy="650204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0791852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66DBAA0C-1C57-73BB-4BDA-B8DEA33608E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965" r="2271"/>
          <a:stretch>
            <a:fillRect/>
          </a:stretch>
        </p:blipFill>
        <p:spPr>
          <a:xfrm>
            <a:off x="2964426" y="513047"/>
            <a:ext cx="5958348" cy="60824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65549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FA9C-B49E-4B4D-BC96-5811065FCF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368711"/>
            <a:ext cx="10890929" cy="1097280"/>
          </a:xfrm>
        </p:spPr>
        <p:txBody>
          <a:bodyPr/>
          <a:lstStyle/>
          <a:p>
            <a:r>
              <a:rPr lang="en-US" sz="3700" dirty="0">
                <a:solidFill>
                  <a:srgbClr val="F0143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Franklin Gothic Heavy" panose="020B0903020102020204" pitchFamily="34" charset="0"/>
              </a:rPr>
              <a:t>Important points: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808BD4-EF10-C6E2-BE8B-681F090E2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182761"/>
            <a:ext cx="10890929" cy="4016871"/>
          </a:xfrm>
        </p:spPr>
        <p:txBody>
          <a:bodyPr/>
          <a:lstStyle/>
          <a:p>
            <a:r>
              <a:rPr lang="en-US" sz="2400" b="1" dirty="0"/>
              <a:t>This tool is only a </a:t>
            </a:r>
            <a:r>
              <a:rPr lang="en-US" sz="2400" b="1" dirty="0" err="1"/>
              <a:t>Sodoku</a:t>
            </a:r>
            <a:r>
              <a:rPr lang="en-US" sz="2400" b="1" dirty="0"/>
              <a:t> Validator, with the objective of verifying the entered </a:t>
            </a:r>
            <a:r>
              <a:rPr lang="en-US" sz="2400" b="1" dirty="0" err="1"/>
              <a:t>Sodoku</a:t>
            </a:r>
            <a:r>
              <a:rPr lang="en-US" sz="2400" b="1" dirty="0"/>
              <a:t> board. And showing if it </a:t>
            </a:r>
            <a:r>
              <a:rPr lang="en-US" sz="2400" b="1"/>
              <a:t>is valid or not.</a:t>
            </a:r>
            <a:endParaRPr lang="en-US" sz="2400" b="1" dirty="0"/>
          </a:p>
          <a:p>
            <a:r>
              <a:rPr lang="en-US" sz="2400" b="1" dirty="0"/>
              <a:t>It is not necessary to enter the elements in the same manner as situated in the </a:t>
            </a:r>
            <a:r>
              <a:rPr lang="en-US" sz="2400" b="1" dirty="0" err="1"/>
              <a:t>Sodoku</a:t>
            </a:r>
            <a:r>
              <a:rPr lang="en-US" sz="2400" b="1" dirty="0"/>
              <a:t> board. User can enter in whatever way but using space in between is necessary.</a:t>
            </a:r>
          </a:p>
          <a:p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842230472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556</Words>
  <Application>Microsoft Office PowerPoint</Application>
  <PresentationFormat>Widescreen</PresentationFormat>
  <Paragraphs>59</Paragraphs>
  <Slides>16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ADLaM Display</vt:lpstr>
      <vt:lpstr>Aptos</vt:lpstr>
      <vt:lpstr>Arial</vt:lpstr>
      <vt:lpstr>Franklin Gothic Heavy</vt:lpstr>
      <vt:lpstr>Grandview Display</vt:lpstr>
      <vt:lpstr>Jumble</vt:lpstr>
      <vt:lpstr>Wingdings</vt:lpstr>
      <vt:lpstr>DashVTI</vt:lpstr>
      <vt:lpstr>SUDOKU VALIDATOR</vt:lpstr>
      <vt:lpstr>SUDOKU AND HOW IT IS PLAYED</vt:lpstr>
      <vt:lpstr>HOW A SODOKU VALIDATOR HELPS</vt:lpstr>
      <vt:lpstr>UNSOLVED:</vt:lpstr>
      <vt:lpstr>LET’S MOVE TO THE BACKEND OF THE SODOKU VALIDATOR…..</vt:lpstr>
      <vt:lpstr>Step 1)  Displaying the instructions to enter input.</vt:lpstr>
      <vt:lpstr>STEP 2) Taking the user’s Sodoku board as input.</vt:lpstr>
      <vt:lpstr>Output:</vt:lpstr>
      <vt:lpstr>Step 3) Checking the rows of the entered Sodoku board to see if any element is repeating.</vt:lpstr>
      <vt:lpstr>Logic behind checking repitition:</vt:lpstr>
      <vt:lpstr>For example:</vt:lpstr>
      <vt:lpstr>Step 4) Checking columns of the Sodoku for repetition.</vt:lpstr>
      <vt:lpstr>PowerPoint Presentation</vt:lpstr>
      <vt:lpstr>Step 5) Checking the sub-grids for repetition:</vt:lpstr>
      <vt:lpstr>PowerPoint Presentation</vt:lpstr>
      <vt:lpstr>Important points: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Umme Hani Adeel</dc:creator>
  <cp:lastModifiedBy>Umme Hani Adeel</cp:lastModifiedBy>
  <cp:revision>2</cp:revision>
  <dcterms:created xsi:type="dcterms:W3CDTF">2025-11-12T15:13:24Z</dcterms:created>
  <dcterms:modified xsi:type="dcterms:W3CDTF">2025-11-12T19:15:44Z</dcterms:modified>
</cp:coreProperties>
</file>